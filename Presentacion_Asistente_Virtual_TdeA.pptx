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2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" cy="5029200"/>
          </a:xfrm>
          <a:prstGeom prst="rect">
            <a:avLst/>
          </a:prstGeom>
          <a:solidFill>
            <a:srgbClr val="FDB8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74D633"/>
                </a:solidFill>
                <a:latin typeface="Arial"/>
              </a:defRPr>
            </a:pPr>
            <a:r>
              <a:t>TECNOLÓGICO DE ANTIOQUIA · INSTITUCIÓN UNIVERSITARIA</a:t>
            </a:r>
          </a:p>
          <a:p>
            <a:pPr>
              <a:spcAft>
                <a:spcPts val="18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Asistente Virtual de Asesorías Académicas</a:t>
            </a:r>
            <a:br/>
            <a:r>
              <a:t>Territorio TdeA</a:t>
            </a:r>
          </a:p>
          <a:p>
            <a:pPr>
              <a:spcAft>
                <a:spcPts val="2800"/>
              </a:spcAft>
              <a:defRPr sz="1500">
                <a:solidFill>
                  <a:srgbClr val="DCF0E1"/>
                </a:solidFill>
                <a:latin typeface="Arial"/>
              </a:defRPr>
            </a:pPr>
            <a:r>
              <a:t>Ecosistema digital de orientación, permanencia estudiantil y acceso en tiempo real a las asesorías académicas en Ciencias Básicas para estudiantes de territorio y regiones.</a:t>
            </a:r>
          </a:p>
          <a:p>
            <a:pPr>
              <a:defRPr sz="1200" b="1">
                <a:solidFill>
                  <a:srgbClr val="FDB813"/>
                </a:solidFill>
                <a:latin typeface="Arial"/>
              </a:defRPr>
            </a:pPr>
            <a:r>
              <a:t>Departamento de Ciencias Básicas y Áreas Comunes (DCBAC)</a:t>
            </a:r>
            <a:br/>
            <a:r>
              <a:t>Sede Robledo &amp; Direccionamiento a Regiones | Versión Institucional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43D"/>
                </a:solidFill>
                <a:latin typeface="Arial"/>
              </a:defRPr>
            </a:pPr>
            <a:r>
              <a:t>CONTEXTO Y DIAGNÓSTICO INSTITUCIONAL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¿Por qué un Asistente Virtual para Territorio TdeA?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Tecnológico de Antioquia · Departamento de Ciencias Básicas y Áreas Comunes · Territorio TdeA   |   2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843D"/>
                </a:solidFill>
              </a:defRPr>
            </a:pPr>
            <a:r>
              <a:t>📍 La Realidad de Territorio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Estudiantes en subregiones (Urabá, Bajo Cauca, Suroeste, Oriente, etc.) con horarios diversos.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Barreras geográficas y de conectividad que dificultan el acompañamiento presencial.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Alta demanda de refuerzo en Matemáticas, Álgebra, Cálculo, Física y Química.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BE2828"/>
                </a:solidFill>
              </a:defRPr>
            </a:pPr>
            <a:r>
              <a:t>🚧 Barreras Identificadas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Desconocimiento de cronogramas y enlaces dispersos en PDF o correos.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Fricción técnica al ingresar a Microsoft Teams o errores con cuentas institucionales.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Temor o timidez académica: creer que la asesoría es solo 'para los que van perdiendo'.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EEF8F0"/>
          </a:solidFill>
          <a:ln>
            <a:solidFill>
              <a:srgbClr val="74D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843D"/>
                </a:solidFill>
              </a:defRPr>
            </a:pPr>
            <a:r>
              <a:t>💡 La Propuesta de Valor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✓ Punto único de acceso centralizado, intuitivo y 100% interactivo.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✓ Acceso en 1 clic a salas de Teams con validación de horarios en vivo.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✓ Biblioteca de guías reales con ejercicios resueltos y formularios para estudiar sin conexión.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✓ Integración total al ecosistema de plataformas oficiales del TdeA.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43D"/>
                </a:solidFill>
                <a:latin typeface="Arial"/>
              </a:defRPr>
            </a:pPr>
            <a:r>
              <a:t>VISIÓN GENERAL DEL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Un Ecosistema Integral de Apoyo Académico en 6 Módulos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Tecnológico de Antioquia · Departamento de Ciencias Básicas y Áreas Comunes · Territorio TdeA   |   3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2900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400">
                <a:solidFill>
                  <a:srgbClr val="00843D"/>
                </a:solidFill>
              </a:defRPr>
            </a:pPr>
            <a:r>
              <a:t>📅 Catálogo Inteligente</a:t>
            </a:r>
          </a:p>
          <a:p>
            <a:pPr>
              <a:lnSpc>
                <a:spcPct val="120000"/>
              </a:lnSpc>
              <a:defRPr sz="1050">
                <a:solidFill>
                  <a:srgbClr val="0F172A"/>
                </a:solidFill>
              </a:defRPr>
            </a:pPr>
            <a:r>
              <a:t>Programación semanal interactiva, filtros por materia/día, estados en vivo y enlace directo a Teams.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08760"/>
            <a:ext cx="342900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400">
                <a:solidFill>
                  <a:srgbClr val="00843D"/>
                </a:solidFill>
              </a:defRPr>
            </a:pPr>
            <a:r>
              <a:t>📚 Biblioteca de Recursos</a:t>
            </a:r>
          </a:p>
          <a:p>
            <a:pPr>
              <a:lnSpc>
                <a:spcPct val="120000"/>
              </a:lnSpc>
              <a:defRPr sz="1050">
                <a:solidFill>
                  <a:srgbClr val="0F172A"/>
                </a:solidFill>
              </a:defRPr>
            </a:pPr>
            <a:r>
              <a:t>Guías pedagógicas completas con teoría, formularios, ejercicios resueltos y descarga en PDF.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508760"/>
            <a:ext cx="342900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400">
                <a:solidFill>
                  <a:srgbClr val="00843D"/>
                </a:solidFill>
              </a:defRPr>
            </a:pPr>
            <a:r>
              <a:t>💬 Chatbot FAQ en Tiempo Real</a:t>
            </a:r>
          </a:p>
          <a:p>
            <a:pPr>
              <a:lnSpc>
                <a:spcPct val="120000"/>
              </a:lnSpc>
              <a:defRPr sz="1050">
                <a:solidFill>
                  <a:srgbClr val="0F172A"/>
                </a:solidFill>
              </a:defRPr>
            </a:pPr>
            <a:r>
              <a:t>Mesa de ayuda inteligente para resolver dudas sobre Teams, dinámica de asesorías y soporte.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79"/>
            <a:ext cx="342900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400">
                <a:solidFill>
                  <a:srgbClr val="00843D"/>
                </a:solidFill>
              </a:defRPr>
            </a:pPr>
            <a:r>
              <a:t>🏛️ Estudiantes TdeA</a:t>
            </a:r>
          </a:p>
          <a:p>
            <a:pPr>
              <a:lnSpc>
                <a:spcPct val="120000"/>
              </a:lnSpc>
              <a:defRPr sz="1050">
                <a:solidFill>
                  <a:srgbClr val="0F172A"/>
                </a:solidFill>
              </a:defRPr>
            </a:pPr>
            <a:r>
              <a:t>Accesos directos unificados a Campus, Correo, Virtual, Teams, Reglamento, Biblioteca y Ruta VBG.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840479"/>
            <a:ext cx="342900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400">
                <a:solidFill>
                  <a:srgbClr val="00843D"/>
                </a:solidFill>
              </a:defRPr>
            </a:pPr>
            <a:r>
              <a:t>♿ Accesibilidad Universal</a:t>
            </a:r>
          </a:p>
          <a:p>
            <a:pPr>
              <a:lnSpc>
                <a:spcPct val="120000"/>
              </a:lnSpc>
              <a:defRPr sz="1050">
                <a:solidFill>
                  <a:srgbClr val="0F172A"/>
                </a:solidFill>
              </a:defRPr>
            </a:pPr>
            <a:r>
              <a:t>Panel inclusivo con la Mascota TdeA, control de tamaño de texto, contraste y modo lectura.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3840479"/>
            <a:ext cx="342900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400">
                <a:solidFill>
                  <a:srgbClr val="00843D"/>
                </a:solidFill>
              </a:defRPr>
            </a:pPr>
            <a:r>
              <a:t>📱 100% Multiplataforma</a:t>
            </a:r>
          </a:p>
          <a:p>
            <a:pPr>
              <a:lnSpc>
                <a:spcPct val="120000"/>
              </a:lnSpc>
              <a:defRPr sz="1050">
                <a:solidFill>
                  <a:srgbClr val="0F172A"/>
                </a:solidFill>
              </a:defRPr>
            </a:pPr>
            <a:r>
              <a:t>Diseño responsivo para teléfonos móviles, computadores y ejecución tanto local como en la nube.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43D"/>
                </a:solidFill>
                <a:latin typeface="Arial"/>
              </a:defRPr>
            </a:pPr>
            <a:r>
              <a:t>MÓDULO 1: GESTIÓN DE HORARIOS Y ACOMPAÑAMIENTO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Catálogo Inteligente de Asesorías Académicas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Tecnológico de Antioquia · Departamento de Ciencias Básicas y Áreas Comunes · Territorio TdeA   |   4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00843D"/>
                </a:solidFill>
              </a:defRPr>
            </a:pPr>
            <a:r>
              <a:t>▶  Filtros Dinámicos por Materia y Día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Permite segmentar instantáneamente entre Matemáticas, Física, Biología, Estadística, Química, Humanidades y Lengua Materna, además de filtrar por días (Lunes a Sábado).</a:t>
            </a:r>
          </a:p>
          <a:p>
            <a:pPr>
              <a:spcAft>
                <a:spcPts val="200"/>
              </a:spcAft>
              <a:defRPr b="1" sz="1300">
                <a:solidFill>
                  <a:srgbClr val="00843D"/>
                </a:solidFill>
              </a:defRPr>
            </a:pPr>
            <a:r>
              <a:t>▶  Indicadores de Estado en Vivo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Detecta automáticamente si la sesión está En Vivo ahora mismo (punto verde parpadeante), si es Próxima o si ya cerró, reduciendo la incertidumbre.</a:t>
            </a:r>
          </a:p>
          <a:p>
            <a:pPr>
              <a:spcAft>
                <a:spcPts val="200"/>
              </a:spcAft>
              <a:defRPr b="1" sz="1300">
                <a:solidFill>
                  <a:srgbClr val="00843D"/>
                </a:solidFill>
              </a:defRPr>
            </a:pPr>
            <a:r>
              <a:t>▶  Acceso Directo a Microsoft Teams en 1 Clic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Abre la sala virtual oficial recordando al estudiante el uso obligatorio de su correo institucional (@correo.tdea.edu.co), con opción de copiar el enlace directo.</a:t>
            </a:r>
          </a:p>
          <a:p>
            <a:pPr>
              <a:spcAft>
                <a:spcPts val="200"/>
              </a:spcAft>
              <a:defRPr b="1" sz="1300">
                <a:solidFill>
                  <a:srgbClr val="00843D"/>
                </a:solidFill>
              </a:defRPr>
            </a:pPr>
            <a:r>
              <a:t>▶  Descarga e Impresión del Horario en PDF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Genera una planilla oficial estructurada por días y horas con membrete institucional para que el estudiante la guarde o imprima.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1206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talogo_con_boton_imprimir_p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8760"/>
            <a:ext cx="4937760" cy="29088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43D"/>
                </a:solidFill>
                <a:latin typeface="Arial"/>
              </a:defRPr>
            </a:pPr>
            <a:r>
              <a:t>MÓDULO 2: APRENDIZAJE AUTÓNOMO Y REFUERZO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Centro de Recursos y Guías Pedagógicas Interactivas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Tecnológico de Antioquia · Departamento de Ciencias Básicas y Áreas Comunes · Territorio TdeA   |   5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00843D"/>
                </a:solidFill>
              </a:defRPr>
            </a:pPr>
            <a:r>
              <a:t>▶  Contenido Pedagógico Auténtico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Se superaron los marcadores genéricos: ahora incluye guías reales para Cálculo Diferencial, Matemáticas Básicas, Física Mecánica, Estadística y Técnicas de Estudio.</a:t>
            </a:r>
          </a:p>
          <a:p>
            <a:pPr>
              <a:spcAft>
                <a:spcPts val="200"/>
              </a:spcAft>
              <a:defRPr b="1" sz="1300">
                <a:solidFill>
                  <a:srgbClr val="00843D"/>
                </a:solidFill>
              </a:defRPr>
            </a:pPr>
            <a:r>
              <a:t>▶  Lector Interactivo por Pestañas (En Pantalla)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Los estudiantes pueden estudiar directamente en el navegador navegando entre: 1) Resumen Conceptual, 2) Formulario Matemático, 3) Problemas Resueltos paso a paso y 4) Taller de Práctica.</a:t>
            </a:r>
          </a:p>
          <a:p>
            <a:pPr>
              <a:spcAft>
                <a:spcPts val="200"/>
              </a:spcAft>
              <a:defRPr b="1" sz="1300">
                <a:solidFill>
                  <a:srgbClr val="00843D"/>
                </a:solidFill>
              </a:defRPr>
            </a:pPr>
            <a:r>
              <a:t>▶  Guías Descargables e Imprimibles en PDF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Pensado para estudiantes de territorio con conectividad limitada: con un solo clic generan y descargan la cartilla pedagógica completa para estudiar offline.</a:t>
            </a:r>
          </a:p>
          <a:p>
            <a:pPr>
              <a:spcAft>
                <a:spcPts val="200"/>
              </a:spcAft>
              <a:defRPr b="1" sz="1300">
                <a:solidFill>
                  <a:srgbClr val="00843D"/>
                </a:solidFill>
              </a:defRPr>
            </a:pPr>
            <a:r>
              <a:t>▶  Fórmulas Claras y Talleres con Soluciones de Control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Facilita la autoevaluación con respuestas de verificación para que el estudiante valide sus procedimientos antes de la asesoría.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1206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pcion3_lector_guia_resu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8760"/>
            <a:ext cx="4937760" cy="29088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43D"/>
                </a:solidFill>
                <a:latin typeface="Arial"/>
              </a:defRPr>
            </a:pPr>
            <a:r>
              <a:t>MÓDULO 3: PLATAFORMAS INSTITUCIONALES CENTRALIZADAS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Sección Oficial 'Estudiantes TdeA' (Acordeón Unificado)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Tecnológico de Antioquia · Departamento de Ciencias Básicas y Áreas Comunes · Territorio TdeA   |   6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00843D"/>
                </a:solidFill>
              </a:defRPr>
            </a:pPr>
            <a:r>
              <a:t>▶  Centralización de Servicios Clave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El estudiante no tiene que buscar enlaces en múltiples páginas; desde el asistente accede a las 7 plataformas indispensables de su vida universitaria.</a:t>
            </a:r>
          </a:p>
          <a:p>
            <a:pPr>
              <a:spcAft>
                <a:spcPts val="200"/>
              </a:spcAft>
              <a:defRPr b="1" sz="1300">
                <a:solidFill>
                  <a:srgbClr val="00843D"/>
                </a:solidFill>
              </a:defRPr>
            </a:pPr>
            <a:r>
              <a:t>▶  1. Campus TdeA &amp; 2. Correo Institucional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Gestión de notas, matrículas y buzón oficial de Microsoft 365.</a:t>
            </a:r>
          </a:p>
          <a:p>
            <a:pPr>
              <a:spcAft>
                <a:spcPts val="200"/>
              </a:spcAft>
              <a:defRPr b="1" sz="1300">
                <a:solidFill>
                  <a:srgbClr val="00843D"/>
                </a:solidFill>
              </a:defRPr>
            </a:pPr>
            <a:r>
              <a:t>▶  3. TdeA Virtual &amp; 4. Microsoft Teams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Aulas de apoyo Moodle y salas de videoconferencia para clases y asesorías.</a:t>
            </a:r>
          </a:p>
          <a:p>
            <a:pPr>
              <a:spcAft>
                <a:spcPts val="200"/>
              </a:spcAft>
              <a:defRPr b="1" sz="1300">
                <a:solidFill>
                  <a:srgbClr val="00843D"/>
                </a:solidFill>
              </a:defRPr>
            </a:pPr>
            <a:r>
              <a:t>▶  5. Reglamento Estudiantil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Normas, deberes, derechos y garantías académicas.</a:t>
            </a:r>
          </a:p>
          <a:p>
            <a:pPr>
              <a:spcAft>
                <a:spcPts val="200"/>
              </a:spcAft>
              <a:defRPr b="1" sz="1300">
                <a:solidFill>
                  <a:srgbClr val="00843D"/>
                </a:solidFill>
              </a:defRPr>
            </a:pPr>
            <a:r>
              <a:t>▶  6. Biblioteca TdeA (Humberto Saldarriaga)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Catálogo en línea, préstamo de portátiles y bases de datos científicas.</a:t>
            </a:r>
          </a:p>
          <a:p>
            <a:pPr>
              <a:spcAft>
                <a:spcPts val="200"/>
              </a:spcAft>
              <a:defRPr b="1" sz="1300">
                <a:solidFill>
                  <a:srgbClr val="00843D"/>
                </a:solidFill>
              </a:defRPr>
            </a:pPr>
            <a:r>
              <a:t>▶  7. Ruta VBG (TdeA Sin Violencias Basadas en Género)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Protocolo oficial de Bienestar Universitario con canal de atención y orientación confidencial (alerta.genero@tdea.edu.co).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1206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studiantes_tdea_reord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8760"/>
            <a:ext cx="4937760" cy="43589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43D"/>
                </a:solidFill>
                <a:latin typeface="Arial"/>
              </a:defRPr>
            </a:pPr>
            <a:r>
              <a:t>MÓDULO 4: INCLUSIÓN Y PAUTAS WCAG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Accesibilidad Institucional con la Mascota TdeA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Tecnológico de Antioquia · Departamento de Ciencias Básicas y Áreas Comunes · Territorio TdeA   |   7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00843D"/>
                </a:solidFill>
              </a:defRPr>
            </a:pPr>
            <a:r>
              <a:t>▶  Identidad Institucional Amigable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La Mascota Oficial TdeA actúa como guía permanente, humanizando la interacción y generando confianza en los estudiantes de primer ingreso y regiones.</a:t>
            </a:r>
          </a:p>
          <a:p>
            <a:pPr>
              <a:spcAft>
                <a:spcPts val="200"/>
              </a:spcAft>
              <a:defRPr b="1" sz="1300">
                <a:solidFill>
                  <a:srgbClr val="00843D"/>
                </a:solidFill>
              </a:defRPr>
            </a:pPr>
            <a:r>
              <a:t>▶  Panel Lateral de Ajustes Visuales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Permite regular el tamaño de fuente (5 niveles), activar modo de alto contraste oscuro o claro, espaciado de texto y altura de línea.</a:t>
            </a:r>
          </a:p>
          <a:p>
            <a:pPr>
              <a:spcAft>
                <a:spcPts val="200"/>
              </a:spcAft>
              <a:defRPr b="1" sz="1300">
                <a:solidFill>
                  <a:srgbClr val="00843D"/>
                </a:solidFill>
              </a:defRPr>
            </a:pPr>
            <a:r>
              <a:t>▶  Herramientas para Dislexia y Baja Visión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Opción de activar tipografía apta para dislexia, cursor agrandado de alto contraste y subrayado forzado de enlaces interactivos.</a:t>
            </a:r>
          </a:p>
          <a:p>
            <a:pPr>
              <a:spcAft>
                <a:spcPts val="200"/>
              </a:spcAft>
              <a:defRPr b="1" sz="1300">
                <a:solidFill>
                  <a:srgbClr val="00843D"/>
                </a:solidFill>
              </a:defRPr>
            </a:pPr>
            <a:r>
              <a:t>▶  Diseño Accesible y Responsable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Cumplimiento de estándares de contraste de color institucional (Verde TdeA #00843D y texto legible) y navegación mediante teclado.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1206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dea_accessibility_panel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876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43D"/>
                </a:solidFill>
                <a:latin typeface="Arial"/>
              </a:defRPr>
            </a:pPr>
            <a:r>
              <a:t>MÓDULO 5: ASISTENCIA INMEDIATA 24/7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Chatbot FAQ y Mesa de Ayuda Especializada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Tecnológico de Antioquia · Departamento de Ciencias Básicas y Áreas Comunes · Territorio TdeA   |   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00843D"/>
                </a:solidFill>
              </a:defRPr>
            </a:pPr>
            <a:r>
              <a:t>▶  Widget Autónomo Flotante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Disponible en todo momento en la esquina inferior derecha sin recargar la página, funcionando bajo cualquier navegador o dispositivo.</a:t>
            </a:r>
          </a:p>
          <a:p>
            <a:pPr>
              <a:spcAft>
                <a:spcPts val="200"/>
              </a:spcAft>
              <a:defRPr b="1" sz="1300">
                <a:solidFill>
                  <a:srgbClr val="00843D"/>
                </a:solidFill>
              </a:defRPr>
            </a:pPr>
            <a:r>
              <a:t>▶  Base de Conocimiento Específica de Ciencias Básicas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Resuelve al instante preguntas críticas: ¿Cómo ingresar a Teams?, ¿Qué hacer si el enlace no abre?, ¿Las asesorías tienen costo?, ¿Puedo entrar solo a repasar?</a:t>
            </a:r>
          </a:p>
          <a:p>
            <a:pPr>
              <a:spcAft>
                <a:spcPts val="200"/>
              </a:spcAft>
              <a:defRPr b="1" sz="1300">
                <a:solidFill>
                  <a:srgbClr val="00843D"/>
                </a:solidFill>
              </a:defRPr>
            </a:pPr>
            <a:r>
              <a:t>▶  Buscador Predictivo en Tiempo Real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Filtra preguntas frecuentes por palabras clave conforme el estudiante escribe su inquietud.</a:t>
            </a:r>
          </a:p>
          <a:p>
            <a:pPr>
              <a:spcAft>
                <a:spcPts val="200"/>
              </a:spcAft>
              <a:defRPr b="1" sz="1300">
                <a:solidFill>
                  <a:srgbClr val="00843D"/>
                </a:solidFill>
              </a:defRPr>
            </a:pPr>
            <a:r>
              <a:t>▶  Canal Directo de Escalamiento Humano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Si la duda requiere atención personalizada, canaliza automáticamente el caso al correo oficial del departamento: auxcienciasbasicas2@tdea.edu.co.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1206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ome_announcement_ver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8760"/>
            <a:ext cx="4937760" cy="43589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43D"/>
                </a:solidFill>
                <a:latin typeface="Arial"/>
              </a:defRPr>
            </a:pPr>
            <a:r>
              <a:t>MÓDULO 6: ADAPTABILIDAD TECNOLÓGICA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Optimización Móvil: Experiencia Tipo App en Smartphones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Tecnológico de Antioquia · Departamento de Ciencias Básicas y Áreas Comunes · Territorio TdeA   |   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00843D"/>
                </a:solidFill>
              </a:defRPr>
            </a:pPr>
            <a:r>
              <a:t>▶  Diseñado para la Realidad de Territorio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Más del 75% de los estudiantes en municipios consultan el asistente desde su teléfono celular con datos móviles.</a:t>
            </a:r>
          </a:p>
          <a:p>
            <a:pPr>
              <a:spcAft>
                <a:spcPts val="200"/>
              </a:spcAft>
              <a:defRPr b="1" sz="1300">
                <a:solidFill>
                  <a:srgbClr val="00843D"/>
                </a:solidFill>
              </a:defRPr>
            </a:pPr>
            <a:r>
              <a:t>▶  Filtros en Carrusel Táctil Horizontal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Los chips de asignaturas y días se desplazan suavemente con el dedo, ocupando solo una línea en lugar de saturar la pantalla vertical.</a:t>
            </a:r>
          </a:p>
          <a:p>
            <a:pPr>
              <a:spcAft>
                <a:spcPts val="200"/>
              </a:spcAft>
              <a:defRPr b="1" sz="1300">
                <a:solidFill>
                  <a:srgbClr val="00843D"/>
                </a:solidFill>
              </a:defRPr>
            </a:pPr>
            <a:r>
              <a:t>▶  Cero Elementos Invasivos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Se eliminaron botones flotantes que tapaban el contenido en pantallas pequeñas; la mascota y accesibilidad se integraron limpiamente en la barra superior.</a:t>
            </a:r>
          </a:p>
          <a:p>
            <a:pPr>
              <a:spcAft>
                <a:spcPts val="200"/>
              </a:spcAft>
              <a:defRPr b="1" sz="1300">
                <a:solidFill>
                  <a:srgbClr val="00843D"/>
                </a:solidFill>
              </a:defRPr>
            </a:pPr>
            <a:r>
              <a:t>▶  Disponibilidad Inmediata en la Nube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Publicado en línea con protocolo seguro HTTPS, listo para compartir por WhatsApp, Teams o redes institucionales sin instalaciones.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1206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_advis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8760"/>
            <a:ext cx="4937760" cy="106858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43D"/>
                </a:solidFill>
                <a:latin typeface="Arial"/>
              </a:defRPr>
            </a:pPr>
            <a:r>
              <a:t>ESTRATEGIA DEPARTAMENTAL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Estrategias Clave para Disparar la Asistencia en Territorio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Tecnológico de Antioquia · Departamento de Ciencias Básicas y Áreas Comunes · Territorio TdeA   |   10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29000" cy="2103120"/>
          </a:xfrm>
          <a:prstGeom prst="roundRect">
            <a:avLst/>
          </a:prstGeom>
          <a:solidFill>
            <a:srgbClr val="F0F8F2"/>
          </a:solidFill>
          <a:ln>
            <a:solidFill>
              <a:srgbClr val="008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00843D"/>
                </a:solidFill>
              </a:defRPr>
            </a:pPr>
            <a:r>
              <a:t>🔴 Banner 'En Vivo Ahora Mismo'</a:t>
            </a:r>
          </a:p>
          <a:p>
            <a:pPr>
              <a:lnSpc>
                <a:spcPct val="120000"/>
              </a:lnSpc>
              <a:defRPr sz="1000">
                <a:solidFill>
                  <a:srgbClr val="0F172A"/>
                </a:solidFill>
              </a:defRPr>
            </a:pPr>
            <a:r>
              <a:t>Detecta la hora local y muestra un llamado a la acción parpadeante cuando hay un docente en sala. Reduce la fricción: un solo toque y el estudiante está dentro de Teams.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08760"/>
            <a:ext cx="3429000" cy="2103120"/>
          </a:xfrm>
          <a:prstGeom prst="roundRect">
            <a:avLst/>
          </a:prstGeom>
          <a:solidFill>
            <a:srgbClr val="F0F8F2"/>
          </a:solidFill>
          <a:ln>
            <a:solidFill>
              <a:srgbClr val="008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00843D"/>
                </a:solidFill>
              </a:defRPr>
            </a:pPr>
            <a:r>
              <a:t>📲 Difusión Viral en WhatsApp</a:t>
            </a:r>
          </a:p>
          <a:p>
            <a:pPr>
              <a:lnSpc>
                <a:spcPct val="120000"/>
              </a:lnSpc>
              <a:defRPr sz="1000">
                <a:solidFill>
                  <a:srgbClr val="0F172A"/>
                </a:solidFill>
              </a:defRPr>
            </a:pPr>
            <a:r>
              <a:t>Botón directo 'Compartir con mi grupo de clase'. Transforma a cada estudiante en un multiplicador en su municipio, motivando a asistir en grupo.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508760"/>
            <a:ext cx="342900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00843D"/>
                </a:solidFill>
              </a:defRPr>
            </a:pPr>
            <a:r>
              <a:t>🎟️ Registro QR y Reconocimiento</a:t>
            </a:r>
          </a:p>
          <a:p>
            <a:pPr>
              <a:lnSpc>
                <a:spcPct val="120000"/>
              </a:lnSpc>
              <a:defRPr sz="1000">
                <a:solidFill>
                  <a:srgbClr val="0F172A"/>
                </a:solidFill>
              </a:defRPr>
            </a:pPr>
            <a:r>
              <a:t>Articulación con docentes titulares de territorio para otorgar constancia de asistencia y décimas/bonificaciones de seguimiento académico.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79"/>
            <a:ext cx="342900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00843D"/>
                </a:solidFill>
              </a:defRPr>
            </a:pPr>
            <a:r>
              <a:t>🛡️ Campaña 'Mitos vs. Realidades'</a:t>
            </a:r>
          </a:p>
          <a:p>
            <a:pPr>
              <a:lnSpc>
                <a:spcPct val="120000"/>
              </a:lnSpc>
              <a:defRPr sz="1000">
                <a:solidFill>
                  <a:srgbClr val="0F172A"/>
                </a:solidFill>
              </a:defRPr>
            </a:pPr>
            <a:r>
              <a:t>Derribar la timidez académica: aclarar que no es obligatorio prender cámara ni hablar, y que no es solo para reprobados sino para asegurar el 5.0.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840479"/>
            <a:ext cx="342900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00843D"/>
                </a:solidFill>
              </a:defRPr>
            </a:pPr>
            <a:r>
              <a:t>📝 Buzón de Dudas Previas</a:t>
            </a:r>
          </a:p>
          <a:p>
            <a:pPr>
              <a:lnSpc>
                <a:spcPct val="120000"/>
              </a:lnSpc>
              <a:defRPr sz="1000">
                <a:solidFill>
                  <a:srgbClr val="0F172A"/>
                </a:solidFill>
              </a:defRPr>
            </a:pPr>
            <a:r>
              <a:t>Para estudiantes con conexión rural inestable: envían su ejercicio antes de la clase para que el docente lo resuelva durante la grabación.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3840479"/>
            <a:ext cx="342900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00843D"/>
                </a:solidFill>
              </a:defRPr>
            </a:pPr>
            <a:r>
              <a:t>📊 Analítica y Seguimiento</a:t>
            </a:r>
          </a:p>
          <a:p>
            <a:pPr>
              <a:lnSpc>
                <a:spcPct val="120000"/>
              </a:lnSpc>
              <a:defRPr sz="1000">
                <a:solidFill>
                  <a:srgbClr val="0F172A"/>
                </a:solidFill>
              </a:defRPr>
            </a:pPr>
            <a:r>
              <a:t>Medición de asignaturas con mayor demanda para ajustar la oferta horaria según las necesidades reales de cada municipio.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2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FDB813"/>
                </a:solidFill>
              </a:defRPr>
            </a:pPr>
            <a:r>
              <a:t>TECNOLÓGICO DE ANTIOQUIA · CIENCIAS BÁSICAS</a:t>
            </a:r>
          </a:p>
          <a:p>
            <a:pPr>
              <a:spcAft>
                <a:spcPts val="2000"/>
              </a:spcAft>
              <a:defRPr b="1" sz="3200">
                <a:solidFill>
                  <a:srgbClr val="FFFFFF"/>
                </a:solidFill>
              </a:defRPr>
            </a:pPr>
            <a:r>
              <a:t>¡Transformando el Acompañamiento Académico en el Territorio TdeA!</a:t>
            </a:r>
          </a:p>
          <a:p>
            <a:pPr>
              <a:spcAft>
                <a:spcPts val="2600"/>
              </a:spcAft>
              <a:defRPr sz="1500">
                <a:solidFill>
                  <a:srgbClr val="DCF0E1"/>
                </a:solidFill>
              </a:defRPr>
            </a:pPr>
            <a:r>
              <a:t>Un recurso tecnológico, accesible y pedagógico al servicio de la permanencia y el éxito académico de nuestros estudiantes.</a:t>
            </a:r>
          </a:p>
          <a:p>
            <a:pPr>
              <a:defRPr sz="1200">
                <a:solidFill>
                  <a:srgbClr val="B4D7BE"/>
                </a:solidFill>
              </a:defRPr>
            </a:pPr>
            <a:r>
              <a:t>Canal Oficial de Atención: auxcienciasbasicas2@tdea.edu.co</a:t>
            </a:r>
            <a:br/>
            <a:r>
              <a:t>Sede Robledo: Calle 73 No. 73A - 226, Medellín - Colombia</a:t>
            </a:r>
            <a:br/>
            <a:r>
              <a:t>Coordinación de Asesorías Académicas · Territorio TdeA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